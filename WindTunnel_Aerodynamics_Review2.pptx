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814382-9A7C-65B9-2780-0D76EB7A6DDF}">
          <p14:sldIdLst>
            <p14:sldId id="256"/>
            <p14:sldId id="257"/>
            <p14:sldId id="258"/>
          </p14:sldIdLst>
        </p14:section>
        <p14:section name="Design" id="{E1266F2C-6BB0-9281-D09C-0E4E7F4A0A38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mplementation" id="{C21CBCF3-A7F0-1EAB-1BD3-CB2183DAB5F2}">
          <p14:sldIdLst>
            <p14:sldId id="265"/>
            <p14:sldId id="266"/>
            <p14:sldId id="267"/>
            <p14:sldId id="268"/>
            <p14:sldId id="269"/>
          </p14:sldIdLst>
        </p14:section>
        <p14:section name="Status and Plan" id="{4F872170-47BA-7DE4-9C5A-A3C1C7300F11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</c:v>
                </c:pt>
              </c:strCache>
            </c:strRef>
          </c:tx>
          <c:spPr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-4</c:v>
                </c:pt>
                <c:pt idx="1">
                  <c:v>0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  <c:pt idx="5">
                  <c:v>16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-0.25</c:v>
                </c:pt>
                <c:pt idx="1">
                  <c:v>0.2</c:v>
                </c:pt>
                <c:pt idx="2">
                  <c:v>0.66</c:v>
                </c:pt>
                <c:pt idx="3">
                  <c:v>1.08</c:v>
                </c:pt>
                <c:pt idx="4">
                  <c:v>1.37</c:v>
                </c:pt>
                <c:pt idx="5">
                  <c:v>1.1200000000000001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58-4DED-90FF-DF453856E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46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F8C"/>
                </a:solidFill>
              </a:rPr>
              <a:t>Wind Tunnel Data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C"/>
                </a:solidFill>
              </a:rPr>
              <a:t>Review 1 &amp; 2  |  MERN Stack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rgbClr val="1B2A2E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" name="Shape 0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F8C"/>
                </a:solidFill>
              </a:rPr>
              <a:t>Wind Tunnel Data Platform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73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C"/>
                </a:solidFill>
              </a:rPr>
              <a:t>Review 1 &amp; 2  |  MERN Stack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aswari Engineering 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"/>
            <a:ext cx="868680" cy="7498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457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2E"/>
                </a:solidFill>
              </a:rPr>
              <a:t>EASWARI ENGINEERING COLLEGE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169164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Review 1 &amp; 2  |  MERN Stack Project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DIGITAL STORAGE AND VISUALIZATION OF WIND TUNNEL TEST RESULTS AND AERODYNAMIC PERFORMANCE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10972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</a:rPr>
              <a:t>Under the Guidance of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</a:rPr>
              <a:t>Ms. D S K Harshitha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B2A2E"/>
                </a:solidFill>
              </a:rPr>
              <a:t>Technical Trainer, AIADS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3291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</a:rPr>
              <a:t>Presented By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</a:rPr>
              <a:t>Navin Raj 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label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AGENDA</a:t>
            </a:r>
            <a:endParaRPr lang="en-US" sz="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Scope of This Review</a:t>
            </a:r>
            <a:endParaRPr lang="en-US" sz="2200" dirty="0"/>
          </a:p>
        </p:txBody>
      </p:sp>
      <p:sp>
        <p:nvSpPr>
          <p:cNvPr id="4" name="Agenda card"/>
          <p:cNvSpPr/>
          <p:nvPr/>
        </p:nvSpPr>
        <p:spPr>
          <a:xfrm>
            <a:off x="457200" y="137160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0757" y="118872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  <a:defRPr sz="1150" b="0">
                <a:solidFill>
                  <a:srgbClr val="FFFFFF"/>
                </a:solidFill>
              </a:defRPr>
            </a:pPr>
            <a:endParaRPr lang="en-US" sz="1700" dirty="0"/>
          </a:p>
          <a:p>
            <a:pPr>
              <a:spcAft>
                <a:spcPts val="800"/>
              </a:spcAft>
              <a:buSzPct val="100000"/>
              <a:defRPr sz="1150" b="0">
                <a:solidFill>
                  <a:srgbClr val="FFFFFF"/>
                </a:solidFill>
              </a:defRPr>
            </a:pPr>
            <a:r>
              <a:rPr sz="1700" dirty="0"/>
              <a:t>1. Project Scope &amp; Aerodynamic Requirements (Functional &amp; Non-Functional)</a:t>
            </a:r>
            <a:endParaRPr lang="en-US" sz="1700" dirty="0"/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lang="en-US" sz="1700" dirty="0"/>
              <a:t>2. Detailed Multi-Tier System Architecture &amp; Telemetry Data Flow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3. Aerodynamic System Use Case Diagram &amp; Actor Interactions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4. ER Diagram &amp; Aerospace Entity Data Models (Models, Runs, Pressure Taps)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5. Modular Subsystem Breakdown &amp; Key Telemetry Functions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6. Modern Full-Stack Technology Stack &amp; Toolchain (React, Vite, Node, Canvas)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7. UI Wireframe &amp; Telemetry HUD Design System</a:t>
            </a:r>
          </a:p>
          <a:p>
            <a:pPr>
              <a:defRPr sz="1150" b="0">
                <a:solidFill>
                  <a:srgbClr val="FFFFFF"/>
                </a:solidFill>
              </a:defRPr>
            </a:pPr>
            <a:r>
              <a:rPr sz="1700" dirty="0"/>
              <a:t>8. Frontend Engineering (React Components, 3D Canvas Flow Engine, Audio Synth)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Functional &amp; Non-Functional Requirements</a:t>
            </a:r>
            <a:endParaRPr lang="en-US" sz="2200" dirty="0"/>
          </a:p>
        </p:txBody>
      </p:sp>
      <p:sp>
        <p:nvSpPr>
          <p:cNvPr id="6" name="Functional card"/>
          <p:cNvSpPr/>
          <p:nvPr/>
        </p:nvSpPr>
        <p:spPr>
          <a:xfrm>
            <a:off x="457200" y="1280160"/>
            <a:ext cx="4480560" cy="3383280"/>
          </a:xfrm>
          <a:prstGeom prst="roundRect">
            <a:avLst>
              <a:gd name="adj" fmla="val 216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7" name="Non-functional card"/>
          <p:cNvSpPr/>
          <p:nvPr/>
        </p:nvSpPr>
        <p:spPr>
          <a:xfrm>
            <a:off x="5120640" y="12801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Functional Requirements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4160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  <a:defRPr sz="1000" b="0">
                <a:solidFill>
                  <a:srgbClr val="1B2A2E"/>
                </a:solidFill>
              </a:defRPr>
            </a:pPr>
            <a:r>
              <a:rPr dirty="0"/>
              <a:t>• Real-time aerodynamic telemetry computation (CL, CD, CM, Cp, L/D, </a:t>
            </a:r>
            <a:r>
              <a:rPr dirty="0" err="1"/>
              <a:t>q_inf</a:t>
            </a:r>
            <a:r>
              <a:rPr dirty="0"/>
              <a:t>)</a:t>
            </a:r>
            <a:endParaRPr lang="en-US" sz="1100" dirty="0"/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Multi-model airfoil management (NACA 0012, NASA SC(2)-0714, 65° Delta Wing)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Multi-regime wind tunnel facility configuration (Subsonic, Transonic, Supersonic)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Interactive 3D Wind Tunnel Canvas with flow particles, streamlines &amp; stall wake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5-Fold Aerodynamic Analytics Suite (CL-α, CD-α, Drag Polar, Cp-x/c, L/D-α)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Automated Live </a:t>
            </a:r>
            <a:r>
              <a:rPr dirty="0" err="1"/>
              <a:t>AoA</a:t>
            </a:r>
            <a:r>
              <a:rPr dirty="0"/>
              <a:t> Pitch Sweep Engine (-4° to +20°) with Web Audio telemetry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Dataset Inspector for CSV/JSON ingestion, validation, filtering, and export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High-performance RESTful telemetry API with in-memory fast-query store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53035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Non-Functional Requirements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69164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  <a:defRPr sz="1000" b="0">
                <a:solidFill>
                  <a:srgbClr val="1B2A2E"/>
                </a:solidFill>
              </a:defRPr>
            </a:pPr>
            <a:r>
              <a:rPr dirty="0"/>
              <a:t>• Real-time responsiveness (&lt; 5ms API latency, 60 FPS Canvas rendering)</a:t>
            </a:r>
            <a:endParaRPr lang="en-US" sz="1100" dirty="0"/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High-accuracy aerodynamic formulations (Prandtl-Glauert compressibility)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Responsive dark aerospace HUD theme (Tailwind CSS, </a:t>
            </a:r>
            <a:r>
              <a:rPr dirty="0" err="1"/>
              <a:t>Lucide</a:t>
            </a:r>
            <a:r>
              <a:rPr dirty="0"/>
              <a:t> Icons)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Decoupled stateless REST architecture with modular components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Robust dataset ingestion with automated unit normalization and validation</a:t>
            </a:r>
          </a:p>
          <a:p>
            <a:pPr>
              <a:defRPr sz="1000" b="0">
                <a:solidFill>
                  <a:srgbClr val="1B2A2E"/>
                </a:solidFill>
              </a:defRPr>
            </a:pPr>
            <a:r>
              <a:rPr dirty="0"/>
              <a:t>• Acoustic audio synthesis using Web Audio API harmonic oscillators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System Architecture (Detailed)</a:t>
            </a:r>
            <a:endParaRPr lang="en-US" sz="2200" dirty="0"/>
          </a:p>
        </p:txBody>
      </p:sp>
      <p:sp>
        <p:nvSpPr>
          <p:cNvPr id="6" name="Tier box"/>
          <p:cNvSpPr/>
          <p:nvPr/>
        </p:nvSpPr>
        <p:spPr>
          <a:xfrm>
            <a:off x="457200" y="137160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 TIER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50" b="0">
                <a:solidFill>
                  <a:srgbClr val="FFFFFF"/>
                </a:solidFill>
              </a:defRPr>
            </a:pPr>
            <a:r>
              <a:t>React 18 + Vite 6</a:t>
            </a:r>
            <a:endParaRPr lang="en-US" sz="1000" dirty="0"/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HTML5 Canvas Flow Engine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Chart.js / react-chartjs-2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Web Audio Synthesizer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283464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8F8C"/>
                </a:solidFill>
              </a:rPr>
              <a:t>⇄</a:t>
            </a:r>
            <a:endParaRPr lang="en-US" sz="2200" dirty="0"/>
          </a:p>
        </p:txBody>
      </p:sp>
      <p:sp>
        <p:nvSpPr>
          <p:cNvPr id="10" name="Tier box"/>
          <p:cNvSpPr/>
          <p:nvPr/>
        </p:nvSpPr>
        <p:spPr>
          <a:xfrm>
            <a:off x="3383280" y="137160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TIER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50" b="0">
                <a:solidFill>
                  <a:srgbClr val="FFFFFF"/>
                </a:solidFill>
              </a:defRPr>
            </a:pPr>
            <a:r>
              <a:t>Node.js + Express.js</a:t>
            </a:r>
            <a:endParaRPr lang="en-US" sz="1000" dirty="0"/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Aerodynamic Physics Engine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Live AoA Sweep Generator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CSV Dataset Ingestion Parser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576072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8F8C"/>
                </a:solidFill>
              </a:rPr>
              <a:t>⇄</a:t>
            </a:r>
            <a:endParaRPr lang="en-US" sz="2200" dirty="0"/>
          </a:p>
        </p:txBody>
      </p:sp>
      <p:sp>
        <p:nvSpPr>
          <p:cNvPr id="14" name="Tier box"/>
          <p:cNvSpPr/>
          <p:nvPr/>
        </p:nvSpPr>
        <p:spPr>
          <a:xfrm>
            <a:off x="6309360" y="137160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1B2A2E"/>
          </a:solidFill>
          <a:ln w="12700">
            <a:solidFill>
              <a:srgbClr val="1B2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TIER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828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50" b="0">
                <a:solidFill>
                  <a:srgbClr val="FFFFFF"/>
                </a:solidFill>
              </a:defRPr>
            </a:pPr>
            <a:r>
              <a:t>Aerospace Models &amp; Polars</a:t>
            </a:r>
            <a:endParaRPr lang="en-US" sz="1000" dirty="0"/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Tunnel Facilities Telemetry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Test Run In-Memory Store</a:t>
            </a:r>
          </a:p>
          <a:p>
            <a:pPr>
              <a:defRPr sz="950" b="0">
                <a:solidFill>
                  <a:srgbClr val="FFFFFF"/>
                </a:solidFill>
              </a:defRPr>
            </a:pPr>
            <a:r>
              <a:t>13-Station Cp Profiles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Data flow</a:t>
            </a:r>
            <a:endParaRPr lang="en-US" sz="1000" dirty="0"/>
          </a:p>
        </p:txBody>
      </p:sp>
      <p:sp>
        <p:nvSpPr>
          <p:cNvPr id="18" name="Flow step"/>
          <p:cNvSpPr/>
          <p:nvPr/>
        </p:nvSpPr>
        <p:spPr>
          <a:xfrm>
            <a:off x="457200" y="347472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747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 Test File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883664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Flow step"/>
          <p:cNvSpPr/>
          <p:nvPr/>
        </p:nvSpPr>
        <p:spPr>
          <a:xfrm>
            <a:off x="2157984" y="347472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57984" y="34747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 &amp; Validate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Flow step"/>
          <p:cNvSpPr/>
          <p:nvPr/>
        </p:nvSpPr>
        <p:spPr>
          <a:xfrm>
            <a:off x="3858768" y="347472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58768" y="34747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 in MongoDB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Flow step"/>
          <p:cNvSpPr/>
          <p:nvPr/>
        </p:nvSpPr>
        <p:spPr>
          <a:xfrm>
            <a:off x="5559552" y="347472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59552" y="34747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Query via REST API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986016" y="3474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Flow step"/>
          <p:cNvSpPr/>
          <p:nvPr/>
        </p:nvSpPr>
        <p:spPr>
          <a:xfrm>
            <a:off x="7260336" y="347472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60336" y="34747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Visualize in React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F8C"/>
                </a:solidFill>
              </a:rPr>
              <a:t>HTTP / HTTPS requests flow from the client through Express REST endpoints to MongoDB, with JSON responses returned along the same path.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USE CASE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Use Case Diagram</a:t>
            </a:r>
            <a:endParaRPr lang="en-US" sz="2200" dirty="0"/>
          </a:p>
        </p:txBody>
      </p:sp>
      <p:sp>
        <p:nvSpPr>
          <p:cNvPr id="6" name="System boundary"/>
          <p:cNvSpPr/>
          <p:nvPr/>
        </p:nvSpPr>
        <p:spPr>
          <a:xfrm>
            <a:off x="3383280" y="1207008"/>
            <a:ext cx="3566160" cy="3429000"/>
          </a:xfrm>
          <a:prstGeom prst="rect">
            <a:avLst/>
          </a:prstGeom>
          <a:solidFill>
            <a:srgbClr val="F4FAF9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Wind Tunnel Data System</a:t>
            </a:r>
            <a:endParaRPr lang="en-US" sz="800" dirty="0"/>
          </a:p>
        </p:txBody>
      </p:sp>
      <p:sp>
        <p:nvSpPr>
          <p:cNvPr id="8" name="Association"/>
          <p:cNvSpPr/>
          <p:nvPr/>
        </p:nvSpPr>
        <p:spPr>
          <a:xfrm flipV="1">
            <a:off x="1783080" y="1591056"/>
            <a:ext cx="1783080" cy="192024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9" name="Association"/>
          <p:cNvSpPr/>
          <p:nvPr/>
        </p:nvSpPr>
        <p:spPr>
          <a:xfrm>
            <a:off x="1783080" y="1783080"/>
            <a:ext cx="1783080" cy="210312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0" name="Association"/>
          <p:cNvSpPr/>
          <p:nvPr/>
        </p:nvSpPr>
        <p:spPr>
          <a:xfrm flipV="1">
            <a:off x="1783080" y="1591056"/>
            <a:ext cx="1783080" cy="1243584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1" name="Association"/>
          <p:cNvSpPr/>
          <p:nvPr/>
        </p:nvSpPr>
        <p:spPr>
          <a:xfrm flipV="1">
            <a:off x="1783080" y="2395728"/>
            <a:ext cx="1783080" cy="438912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2" name="Association"/>
          <p:cNvSpPr/>
          <p:nvPr/>
        </p:nvSpPr>
        <p:spPr>
          <a:xfrm flipV="1">
            <a:off x="1783080" y="2798064"/>
            <a:ext cx="1783080" cy="36576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3" name="Association"/>
          <p:cNvSpPr/>
          <p:nvPr/>
        </p:nvSpPr>
        <p:spPr>
          <a:xfrm>
            <a:off x="1783080" y="2834640"/>
            <a:ext cx="1783080" cy="365760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4" name="Association"/>
          <p:cNvSpPr/>
          <p:nvPr/>
        </p:nvSpPr>
        <p:spPr>
          <a:xfrm>
            <a:off x="1783080" y="2834640"/>
            <a:ext cx="1783080" cy="768096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5" name="Association"/>
          <p:cNvSpPr/>
          <p:nvPr/>
        </p:nvSpPr>
        <p:spPr>
          <a:xfrm>
            <a:off x="1783080" y="2834640"/>
            <a:ext cx="1783080" cy="1572768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6" name="Association"/>
          <p:cNvSpPr/>
          <p:nvPr/>
        </p:nvSpPr>
        <p:spPr>
          <a:xfrm flipV="1">
            <a:off x="1783080" y="1591056"/>
            <a:ext cx="1783080" cy="2295144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7" name="Association"/>
          <p:cNvSpPr/>
          <p:nvPr/>
        </p:nvSpPr>
        <p:spPr>
          <a:xfrm flipV="1">
            <a:off x="1783080" y="3200400"/>
            <a:ext cx="1783080" cy="685800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8" name="Association"/>
          <p:cNvSpPr/>
          <p:nvPr/>
        </p:nvSpPr>
        <p:spPr>
          <a:xfrm flipV="1">
            <a:off x="1783080" y="3602736"/>
            <a:ext cx="1783080" cy="283464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19" name="Association"/>
          <p:cNvSpPr/>
          <p:nvPr/>
        </p:nvSpPr>
        <p:spPr>
          <a:xfrm>
            <a:off x="1783080" y="3886200"/>
            <a:ext cx="1783080" cy="118872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20" name="Association"/>
          <p:cNvSpPr/>
          <p:nvPr/>
        </p:nvSpPr>
        <p:spPr>
          <a:xfrm>
            <a:off x="1783080" y="3886200"/>
            <a:ext cx="1783080" cy="521208"/>
          </a:xfrm>
          <a:prstGeom prst="line">
            <a:avLst/>
          </a:prstGeom>
          <a:noFill/>
          <a:ln w="9525">
            <a:solidFill>
              <a:srgbClr val="7A8F8C"/>
            </a:solidFill>
            <a:prstDash val="solid"/>
          </a:ln>
        </p:spPr>
      </p:sp>
      <p:sp>
        <p:nvSpPr>
          <p:cNvPr id="21" name="Use case"/>
          <p:cNvSpPr/>
          <p:nvPr/>
        </p:nvSpPr>
        <p:spPr>
          <a:xfrm>
            <a:off x="3611880" y="1408176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14081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Login &amp; Role Access</a:t>
            </a:r>
            <a:endParaRPr lang="en-US" sz="850" dirty="0"/>
          </a:p>
        </p:txBody>
      </p:sp>
      <p:sp>
        <p:nvSpPr>
          <p:cNvPr id="23" name="Use case"/>
          <p:cNvSpPr/>
          <p:nvPr/>
        </p:nvSpPr>
        <p:spPr>
          <a:xfrm>
            <a:off x="3611880" y="1810512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18105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Manage Users</a:t>
            </a:r>
            <a:endParaRPr lang="en-US" sz="850" dirty="0"/>
          </a:p>
        </p:txBody>
      </p:sp>
      <p:sp>
        <p:nvSpPr>
          <p:cNvPr id="25" name="Use case"/>
          <p:cNvSpPr/>
          <p:nvPr/>
        </p:nvSpPr>
        <p:spPr>
          <a:xfrm>
            <a:off x="3611880" y="2212848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Create Test Record &amp; Metadata</a:t>
            </a:r>
            <a:endParaRPr lang="en-US" sz="850" dirty="0"/>
          </a:p>
        </p:txBody>
      </p:sp>
      <p:sp>
        <p:nvSpPr>
          <p:cNvPr id="27" name="Use case"/>
          <p:cNvSpPr/>
          <p:nvPr/>
        </p:nvSpPr>
        <p:spPr>
          <a:xfrm>
            <a:off x="3611880" y="2615184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2615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Upload Test Data (CSV/Excel)</a:t>
            </a:r>
            <a:endParaRPr lang="en-US" sz="850" dirty="0"/>
          </a:p>
        </p:txBody>
      </p:sp>
      <p:sp>
        <p:nvSpPr>
          <p:cNvPr id="29" name="Use case"/>
          <p:cNvSpPr/>
          <p:nvPr/>
        </p:nvSpPr>
        <p:spPr>
          <a:xfrm>
            <a:off x="3611880" y="3017520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11880" y="30175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Visualize Aerodynamic Plots</a:t>
            </a:r>
            <a:endParaRPr lang="en-US" sz="850" dirty="0"/>
          </a:p>
        </p:txBody>
      </p:sp>
      <p:sp>
        <p:nvSpPr>
          <p:cNvPr id="31" name="Use case"/>
          <p:cNvSpPr/>
          <p:nvPr/>
        </p:nvSpPr>
        <p:spPr>
          <a:xfrm>
            <a:off x="3611880" y="3419856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3419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Compare Test Runs</a:t>
            </a:r>
            <a:endParaRPr lang="en-US" sz="850" dirty="0"/>
          </a:p>
        </p:txBody>
      </p:sp>
      <p:sp>
        <p:nvSpPr>
          <p:cNvPr id="33" name="Use case"/>
          <p:cNvSpPr/>
          <p:nvPr/>
        </p:nvSpPr>
        <p:spPr>
          <a:xfrm>
            <a:off x="3611880" y="3822192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1188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Search &amp; Filter Tests</a:t>
            </a:r>
            <a:endParaRPr lang="en-US" sz="850" dirty="0"/>
          </a:p>
        </p:txBody>
      </p:sp>
      <p:sp>
        <p:nvSpPr>
          <p:cNvPr id="35" name="Use case"/>
          <p:cNvSpPr/>
          <p:nvPr/>
        </p:nvSpPr>
        <p:spPr>
          <a:xfrm>
            <a:off x="3611880" y="4224528"/>
            <a:ext cx="3108960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11880" y="42245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A2E"/>
                </a:solidFill>
              </a:rPr>
              <a:t>Export Report (PDF/CSV)</a:t>
            </a:r>
            <a:endParaRPr lang="en-US" sz="850" dirty="0"/>
          </a:p>
        </p:txBody>
      </p:sp>
      <p:sp>
        <p:nvSpPr>
          <p:cNvPr id="37" name="Actor head"/>
          <p:cNvSpPr/>
          <p:nvPr/>
        </p:nvSpPr>
        <p:spPr>
          <a:xfrm>
            <a:off x="868680" y="139903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Actor body"/>
          <p:cNvSpPr/>
          <p:nvPr/>
        </p:nvSpPr>
        <p:spPr>
          <a:xfrm>
            <a:off x="777240" y="169164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1938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2E"/>
                </a:solidFill>
              </a:rPr>
              <a:t>Admin</a:t>
            </a:r>
            <a:endParaRPr lang="en-US" sz="900" dirty="0"/>
          </a:p>
        </p:txBody>
      </p:sp>
      <p:sp>
        <p:nvSpPr>
          <p:cNvPr id="40" name="Actor head"/>
          <p:cNvSpPr/>
          <p:nvPr/>
        </p:nvSpPr>
        <p:spPr>
          <a:xfrm>
            <a:off x="868680" y="245059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Actor body"/>
          <p:cNvSpPr/>
          <p:nvPr/>
        </p:nvSpPr>
        <p:spPr>
          <a:xfrm>
            <a:off x="777240" y="274320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1480" y="2990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2E"/>
                </a:solidFill>
              </a:rPr>
              <a:t>Test Engineer</a:t>
            </a:r>
            <a:endParaRPr lang="en-US" sz="900" dirty="0"/>
          </a:p>
        </p:txBody>
      </p:sp>
      <p:sp>
        <p:nvSpPr>
          <p:cNvPr id="43" name="Actor head"/>
          <p:cNvSpPr/>
          <p:nvPr/>
        </p:nvSpPr>
        <p:spPr>
          <a:xfrm>
            <a:off x="868680" y="350215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Actor body"/>
          <p:cNvSpPr/>
          <p:nvPr/>
        </p:nvSpPr>
        <p:spPr>
          <a:xfrm>
            <a:off x="777240" y="3794760"/>
            <a:ext cx="457200" cy="2286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1480" y="4041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2E"/>
                </a:solidFill>
              </a:rPr>
              <a:t>Analyst / Viewer</a:t>
            </a:r>
            <a:endParaRPr lang="en-US" sz="900" dirty="0"/>
          </a:p>
        </p:txBody>
      </p:sp>
      <p:sp>
        <p:nvSpPr>
          <p:cNvPr id="46" name="Database"/>
          <p:cNvSpPr/>
          <p:nvPr/>
        </p:nvSpPr>
        <p:spPr>
          <a:xfrm>
            <a:off x="7406640" y="237744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B2A2E"/>
          </a:solidFill>
          <a:ln w="12700">
            <a:solidFill>
              <a:srgbClr val="1B2A2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06640" y="2377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MongoDB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2834640"/>
            <a:ext cx="457200" cy="0"/>
          </a:xfrm>
          <a:prstGeom prst="line">
            <a:avLst/>
          </a:prstGeom>
          <a:noFill/>
          <a:ln w="12700">
            <a:solidFill>
              <a:srgbClr val="7A8F8C"/>
            </a:solidFill>
            <a:prstDash val="solid"/>
            <a:tailEnd type="triangle"/>
          </a:ln>
        </p:spPr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ER DIAGRAM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ER Diagram / Database Design</a:t>
            </a:r>
            <a:endParaRPr lang="en-US" sz="2200" dirty="0"/>
          </a:p>
        </p:txBody>
      </p:sp>
      <p:sp>
        <p:nvSpPr>
          <p:cNvPr id="6" name="Entity USERS"/>
          <p:cNvSpPr/>
          <p:nvPr/>
        </p:nvSpPr>
        <p:spPr>
          <a:xfrm>
            <a:off x="457200" y="128016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934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name, email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passwordHash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role (admin/engineer/analyst)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createdAt</a:t>
            </a:r>
            <a:endParaRPr lang="en-US" sz="850" dirty="0"/>
          </a:p>
        </p:txBody>
      </p:sp>
      <p:sp>
        <p:nvSpPr>
          <p:cNvPr id="10" name="Entity PROJECTS"/>
          <p:cNvSpPr/>
          <p:nvPr/>
        </p:nvSpPr>
        <p:spPr>
          <a:xfrm>
            <a:off x="3383280" y="128016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0934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title, aircraftModel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description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createdBy (FK → Users)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createdAt</a:t>
            </a:r>
            <a:endParaRPr lang="en-US" sz="850" dirty="0"/>
          </a:p>
        </p:txBody>
      </p:sp>
      <p:sp>
        <p:nvSpPr>
          <p:cNvPr id="14" name="Entity WIND_TUNNEL_TESTS"/>
          <p:cNvSpPr/>
          <p:nvPr/>
        </p:nvSpPr>
        <p:spPr>
          <a:xfrm>
            <a:off x="6309360" y="128016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WIND_TUNNEL_TESTS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60934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projectId (FK)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tunnelName, testDate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machNumber, reynolds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conductedBy (FK → Users)</a:t>
            </a:r>
            <a:endParaRPr lang="en-US" sz="850" dirty="0"/>
          </a:p>
        </p:txBody>
      </p:sp>
      <p:sp>
        <p:nvSpPr>
          <p:cNvPr id="18" name="Entity REPORTS"/>
          <p:cNvSpPr/>
          <p:nvPr/>
        </p:nvSpPr>
        <p:spPr>
          <a:xfrm>
            <a:off x="457200" y="301752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34670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testId (FK → Tests)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generatedBy (FK → Users)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fileUrl, format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createdAt</a:t>
            </a:r>
            <a:endParaRPr lang="en-US" sz="850" dirty="0"/>
          </a:p>
        </p:txBody>
      </p:sp>
      <p:sp>
        <p:nvSpPr>
          <p:cNvPr id="22" name="Entity MEASUREMENTS"/>
          <p:cNvSpPr/>
          <p:nvPr/>
        </p:nvSpPr>
        <p:spPr>
          <a:xfrm>
            <a:off x="3383280" y="301752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01752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MEASUREMENTS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34670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runId (FK → Test Runs)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CL, CD, CM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pressure[ ] (Cp values)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units</a:t>
            </a:r>
            <a:endParaRPr lang="en-US" sz="850" dirty="0"/>
          </a:p>
        </p:txBody>
      </p:sp>
      <p:sp>
        <p:nvSpPr>
          <p:cNvPr id="26" name="Entity TEST_RUNS"/>
          <p:cNvSpPr/>
          <p:nvPr/>
        </p:nvSpPr>
        <p:spPr>
          <a:xfrm>
            <a:off x="6309360" y="3017520"/>
            <a:ext cx="2377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TEST_RUNS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3346704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_id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testId (FK → Tests)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alphaDeg, velocity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dynamicPressure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A2E"/>
                </a:solidFill>
              </a:rPr>
              <a:t>status</a:t>
            </a:r>
            <a:endParaRPr lang="en-US" sz="850" dirty="0"/>
          </a:p>
        </p:txBody>
      </p:sp>
      <p:sp>
        <p:nvSpPr>
          <p:cNvPr id="30" name="Relationship"/>
          <p:cNvSpPr/>
          <p:nvPr/>
        </p:nvSpPr>
        <p:spPr>
          <a:xfrm>
            <a:off x="2834640" y="1965960"/>
            <a:ext cx="548640" cy="0"/>
          </a:xfrm>
          <a:prstGeom prst="line">
            <a:avLst/>
          </a:prstGeom>
          <a:noFill/>
          <a:ln w="15875">
            <a:solidFill>
              <a:srgbClr val="7A8F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34640" y="1764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1764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N</a:t>
            </a:r>
            <a:endParaRPr lang="en-US" sz="800" dirty="0"/>
          </a:p>
        </p:txBody>
      </p:sp>
      <p:sp>
        <p:nvSpPr>
          <p:cNvPr id="33" name="Relationship"/>
          <p:cNvSpPr/>
          <p:nvPr/>
        </p:nvSpPr>
        <p:spPr>
          <a:xfrm>
            <a:off x="5760720" y="1965960"/>
            <a:ext cx="548640" cy="0"/>
          </a:xfrm>
          <a:prstGeom prst="line">
            <a:avLst/>
          </a:prstGeom>
          <a:noFill/>
          <a:ln w="15875">
            <a:solidFill>
              <a:srgbClr val="7A8F8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0" y="1764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1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080760" y="1764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N</a:t>
            </a:r>
            <a:endParaRPr lang="en-US" sz="800" dirty="0"/>
          </a:p>
        </p:txBody>
      </p:sp>
      <p:sp>
        <p:nvSpPr>
          <p:cNvPr id="36" name="Relationship"/>
          <p:cNvSpPr/>
          <p:nvPr/>
        </p:nvSpPr>
        <p:spPr>
          <a:xfrm>
            <a:off x="7498080" y="2697480"/>
            <a:ext cx="0" cy="320040"/>
          </a:xfrm>
          <a:prstGeom prst="line">
            <a:avLst/>
          </a:prstGeom>
          <a:noFill/>
          <a:ln w="15875">
            <a:solidFill>
              <a:srgbClr val="7A8F8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16368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1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516368" y="2834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N</a:t>
            </a:r>
            <a:endParaRPr lang="en-US" sz="800" dirty="0"/>
          </a:p>
        </p:txBody>
      </p:sp>
      <p:sp>
        <p:nvSpPr>
          <p:cNvPr id="39" name="Relationship"/>
          <p:cNvSpPr/>
          <p:nvPr/>
        </p:nvSpPr>
        <p:spPr>
          <a:xfrm>
            <a:off x="5760720" y="3703320"/>
            <a:ext cx="548640" cy="0"/>
          </a:xfrm>
          <a:prstGeom prst="line">
            <a:avLst/>
          </a:prstGeom>
          <a:noFill/>
          <a:ln w="15875">
            <a:solidFill>
              <a:srgbClr val="7A8F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0720" y="3502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N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080760" y="3502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Relationship"/>
          <p:cNvSpPr/>
          <p:nvPr/>
        </p:nvSpPr>
        <p:spPr>
          <a:xfrm>
            <a:off x="1645920" y="2697480"/>
            <a:ext cx="0" cy="320040"/>
          </a:xfrm>
          <a:prstGeom prst="line">
            <a:avLst/>
          </a:prstGeom>
          <a:noFill/>
          <a:ln w="15875">
            <a:solidFill>
              <a:srgbClr val="7A8F8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64208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1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664208" y="2834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</a:rPr>
              <a:t>N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F8C"/>
                </a:solidFill>
              </a:rPr>
              <a:t>1 → N relationships shown; foreign keys stored as ObjectId references in MongoDB.</a:t>
            </a:r>
            <a:endParaRPr lang="en-US" sz="8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MODULES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Module Description</a:t>
            </a:r>
            <a:endParaRPr lang="en-US" sz="2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3284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Functions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3D Flow Simulator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Interactive Canvas aerodynamic particle simulator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Real-time streamlines, stall vortex shedding, smoke rakes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Aerodynamic Analytics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5-fold scientific performance visualization suite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CL-α lift curve, Drag Polar, Cp distribution, L/D efficiency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Live AoA Sweep Engine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Automated motorized angle of attack sweeps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Continuous angle traversing, streaming telemetry, audio synth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Facility Mission Control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Multi-regime wind tunnel facility monitoring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RPM, dynamic pressure (q_inf), cryogenic cooling status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Dataset Inspector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Flight test run data exploration &amp; ingestion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Batch CSV upload, multi-parameter filtering, JSON/CSV export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Telemetry REST API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High-speed backend aerodynamic calculation server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Real-time coefficient solver, sweep generator, health metrics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TECH STACK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6" name="Stack card"/>
          <p:cNvSpPr/>
          <p:nvPr/>
        </p:nvSpPr>
        <p:spPr>
          <a:xfrm>
            <a:off x="457200" y="1325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React 18 &amp; Vite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 sz="1000" b="0">
                <a:solidFill>
                  <a:srgbClr val="1B2A2E"/>
                </a:solidFill>
              </a:defRPr>
            </a:pPr>
            <a:r>
              <a:t>High-speed frontend framework with instant HMR and component modularity.</a:t>
            </a:r>
            <a:endParaRPr lang="en-US" sz="1050" dirty="0"/>
          </a:p>
        </p:txBody>
      </p:sp>
      <p:sp>
        <p:nvSpPr>
          <p:cNvPr id="9" name="Stack card"/>
          <p:cNvSpPr/>
          <p:nvPr/>
        </p:nvSpPr>
        <p:spPr>
          <a:xfrm>
            <a:off x="2560320" y="1325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HTML5 Canvas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2670048" y="1783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 sz="1000" b="0">
                <a:solidFill>
                  <a:srgbClr val="1B2A2E"/>
                </a:solidFill>
              </a:defRPr>
            </a:pPr>
            <a:r>
              <a:t>Real-time 60 FPS aerodynamic vector field &amp; particle streamline engine.</a:t>
            </a:r>
            <a:endParaRPr lang="en-US" sz="1050" dirty="0"/>
          </a:p>
        </p:txBody>
      </p:sp>
      <p:sp>
        <p:nvSpPr>
          <p:cNvPr id="12" name="Stack card"/>
          <p:cNvSpPr/>
          <p:nvPr/>
        </p:nvSpPr>
        <p:spPr>
          <a:xfrm>
            <a:off x="4663440" y="1325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Chart.js 4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773168" y="1783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 sz="1000" b="0">
                <a:solidFill>
                  <a:srgbClr val="1B2A2E"/>
                </a:solidFill>
              </a:defRPr>
            </a:pPr>
            <a:r>
              <a:t>Interactive scientific charts rendering lift, drag, pitching moment &amp; Cp loops.</a:t>
            </a:r>
            <a:endParaRPr lang="en-US" sz="1050" dirty="0"/>
          </a:p>
        </p:txBody>
      </p:sp>
      <p:sp>
        <p:nvSpPr>
          <p:cNvPr id="15" name="Stack card"/>
          <p:cNvSpPr/>
          <p:nvPr/>
        </p:nvSpPr>
        <p:spPr>
          <a:xfrm>
            <a:off x="6766560" y="13258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4FAF9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Node &amp; Express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876288" y="178308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 sz="1000" b="0">
                <a:solidFill>
                  <a:srgbClr val="1B2A2E"/>
                </a:solidFill>
              </a:defRPr>
            </a:pPr>
            <a:r>
              <a:t>REST API telemetry server and dynamic aerodynamic calculation algorithms.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Development &amp; Deployment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1100" b="0">
                <a:solidFill>
                  <a:srgbClr val="1B2A2E"/>
                </a:solidFill>
              </a:defRPr>
            </a:pPr>
            <a:r>
              <a:t>• Tailwind CSS: Dark aerospace HUD theme with custom neon telemetry accents.</a:t>
            </a:r>
            <a:endParaRPr lang="en-US" sz="1200" dirty="0"/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Web Audio API: Dynamic sound synthesis simulating aerodynamic airflow turbulence.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Lucide React Icons &amp; Tooling: VS Code, Postman for API testing, Git &amp; GitHub.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Python &amp; NumPy: Aerodynamic numerical validation and curve modeling.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UI DESIGN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UI Design / Wireframes</a:t>
            </a:r>
            <a:endParaRPr lang="en-US" sz="2200" dirty="0"/>
          </a:p>
        </p:txBody>
      </p:sp>
      <p:sp>
        <p:nvSpPr>
          <p:cNvPr id="6" name="Browser frame"/>
          <p:cNvSpPr/>
          <p:nvPr/>
        </p:nvSpPr>
        <p:spPr>
          <a:xfrm>
            <a:off x="731520" y="1280160"/>
            <a:ext cx="7680960" cy="3337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7680960" cy="228600"/>
          </a:xfrm>
          <a:prstGeom prst="rect">
            <a:avLst/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44168"/>
            <a:ext cx="91440" cy="91440"/>
          </a:xfrm>
          <a:prstGeom prst="ellipse">
            <a:avLst/>
          </a:prstGeom>
          <a:solidFill>
            <a:srgbClr val="7A8F8C"/>
          </a:solidFill>
          <a:ln w="12700">
            <a:solidFill>
              <a:srgbClr val="7A8F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344168"/>
            <a:ext cx="91440" cy="91440"/>
          </a:xfrm>
          <a:prstGeom prst="ellipse">
            <a:avLst/>
          </a:prstGeom>
          <a:solidFill>
            <a:srgbClr val="7A8F8C"/>
          </a:solidFill>
          <a:ln w="12700">
            <a:solidFill>
              <a:srgbClr val="7A8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344168"/>
            <a:ext cx="91440" cy="91440"/>
          </a:xfrm>
          <a:prstGeom prst="ellipse">
            <a:avLst/>
          </a:prstGeom>
          <a:solidFill>
            <a:srgbClr val="7A8F8C"/>
          </a:solidFill>
          <a:ln w="12700">
            <a:solidFill>
              <a:srgbClr val="7A8F8C"/>
            </a:solidFill>
            <a:prstDash val="solid"/>
          </a:ln>
        </p:spPr>
      </p:sp>
      <p:sp>
        <p:nvSpPr>
          <p:cNvPr id="11" name="Sidebar"/>
          <p:cNvSpPr/>
          <p:nvPr/>
        </p:nvSpPr>
        <p:spPr>
          <a:xfrm>
            <a:off x="731520" y="1508760"/>
            <a:ext cx="1371600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1645920"/>
            <a:ext cx="1188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Test Records</a:t>
            </a:r>
            <a:endParaRPr lang="en-US" sz="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Upload Data</a:t>
            </a:r>
            <a:endParaRPr lang="en-US" sz="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Visualize</a:t>
            </a:r>
            <a:endParaRPr lang="en-US" sz="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Compare</a:t>
            </a:r>
            <a:endParaRPr lang="en-US" sz="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Reports</a:t>
            </a:r>
            <a:endParaRPr lang="en-US" sz="900" dirty="0"/>
          </a:p>
        </p:txBody>
      </p:sp>
      <p:sp>
        <p:nvSpPr>
          <p:cNvPr id="13" name="KPI card"/>
          <p:cNvSpPr/>
          <p:nvPr/>
        </p:nvSpPr>
        <p:spPr>
          <a:xfrm>
            <a:off x="2286000" y="1645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24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8F8C"/>
                </a:solidFill>
              </a:rPr>
              <a:t>Total Tests</a:t>
            </a:r>
            <a:endParaRPr lang="en-US" sz="1600" dirty="0"/>
          </a:p>
        </p:txBody>
      </p:sp>
      <p:sp>
        <p:nvSpPr>
          <p:cNvPr id="15" name="KPI card"/>
          <p:cNvSpPr/>
          <p:nvPr/>
        </p:nvSpPr>
        <p:spPr>
          <a:xfrm>
            <a:off x="3794760" y="1645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156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8F8C"/>
                </a:solidFill>
              </a:rPr>
              <a:t>Test Runs</a:t>
            </a:r>
            <a:endParaRPr lang="en-US" sz="1600" dirty="0"/>
          </a:p>
        </p:txBody>
      </p:sp>
      <p:sp>
        <p:nvSpPr>
          <p:cNvPr id="17" name="KPI card"/>
          <p:cNvSpPr/>
          <p:nvPr/>
        </p:nvSpPr>
        <p:spPr>
          <a:xfrm>
            <a:off x="5303520" y="1645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1.32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8F8C"/>
                </a:solidFill>
              </a:rPr>
              <a:t>Avg CL (max)</a:t>
            </a:r>
            <a:endParaRPr lang="en-US" sz="1600" dirty="0"/>
          </a:p>
        </p:txBody>
      </p:sp>
      <p:sp>
        <p:nvSpPr>
          <p:cNvPr id="19" name="KPI card"/>
          <p:cNvSpPr/>
          <p:nvPr/>
        </p:nvSpPr>
        <p:spPr>
          <a:xfrm>
            <a:off x="6812280" y="164592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18</a:t>
            </a:r>
            <a:endParaRPr lang="en-US" sz="16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8F8C"/>
                </a:solidFill>
              </a:rPr>
              <a:t>Reports</a:t>
            </a:r>
            <a:endParaRPr lang="en-US" sz="1600" dirty="0"/>
          </a:p>
        </p:txBody>
      </p:sp>
      <p:sp>
        <p:nvSpPr>
          <p:cNvPr id="21" name="Chart area"/>
          <p:cNvSpPr/>
          <p:nvPr/>
        </p:nvSpPr>
        <p:spPr>
          <a:xfrm>
            <a:off x="2286000" y="246888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77440" y="2496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2E"/>
                </a:solidFill>
              </a:rPr>
              <a:t>CL vs α Plot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331720" y="2697480"/>
          <a:ext cx="37490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able area"/>
          <p:cNvSpPr/>
          <p:nvPr/>
        </p:nvSpPr>
        <p:spPr>
          <a:xfrm>
            <a:off x="6309360" y="246888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2E"/>
                </a:solidFill>
              </a:rPr>
              <a:t>Recent Tests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00800" y="2788920"/>
            <a:ext cx="1737360" cy="201168"/>
          </a:xfrm>
          <a:prstGeom prst="rect">
            <a:avLst/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3108960"/>
            <a:ext cx="1737360" cy="201168"/>
          </a:xfrm>
          <a:prstGeom prst="rect">
            <a:avLst/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0" y="3429000"/>
            <a:ext cx="1737360" cy="201168"/>
          </a:xfrm>
          <a:prstGeom prst="rect">
            <a:avLst/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3749040"/>
            <a:ext cx="1737360" cy="201168"/>
          </a:xfrm>
          <a:prstGeom prst="rect">
            <a:avLst/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4069080"/>
            <a:ext cx="1737360" cy="201168"/>
          </a:xfrm>
          <a:prstGeom prst="rect">
            <a:avLst/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FRONTEND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Frontend Development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1100" b="0">
                <a:solidFill>
                  <a:srgbClr val="1B2A2E"/>
                </a:solidFill>
              </a:defRPr>
            </a:pPr>
            <a:r>
              <a:t>• Built on React 18 and Vite 6 for ultra-fast compilation and zero-lag rendering</a:t>
            </a:r>
            <a:endParaRPr lang="en-US" sz="1200" dirty="0"/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Interactive 3D Wind Tunnel Canvas with dynamic particle streamlines &amp; stall wake shedding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Real-Time AoA Pitch Controller (-4° to +20°) dynamically recalculating telemetry in &lt;1ms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Aerodynamic Analytics Suite featuring 5 synchronized Chart.js scientific polars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Live Motorized Sweep Controller with automated AoA traversing &amp; Web Audio sound feedback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Dataset Inspector with multi-filter search, CSV file upload, and JSON telemetry export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Dark Aerospace Mission HUD styled with Tailwind CSS and responsive layout grids</a:t>
            </a:r>
          </a:p>
        </p:txBody>
      </p:sp>
      <p:sp>
        <p:nvSpPr>
          <p:cNvPr id="7" name="Pages 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028090"/>
                </a:solidFill>
              </a:defRPr>
            </a:pPr>
            <a:r>
              <a:t>Platform Tabs &amp; Views</a:t>
            </a:r>
            <a:endParaRPr lang="en-US" sz="1050" dirty="0"/>
          </a:p>
          <a:p>
            <a:pPr>
              <a:defRPr sz="1050" b="0">
                <a:solidFill>
                  <a:srgbClr val="7A8F8C"/>
                </a:solidFill>
              </a:defRPr>
            </a:pPr>
            <a:r>
              <a:t>Mission Overview | 3D Wind Tunnel Simulator | Analytics Suite | Dataset Inspector | Live Tunnel Sweep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Data Visualization (Sample Output)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950" b="0">
                <a:solidFill>
                  <a:srgbClr val="7A8F8C"/>
                </a:solidFill>
              </a:defRPr>
            </a:pPr>
            <a:r>
              <a:t>Live scientific charts calculated dynamically via backend telemetry engine (NACA 0012 &amp; NASA SC(2)-0714).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chart_lif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77639" cy="2926080"/>
          </a:xfrm>
          <a:prstGeom prst="rect">
            <a:avLst/>
          </a:prstGeom>
        </p:spPr>
      </p:pic>
      <p:pic>
        <p:nvPicPr>
          <p:cNvPr id="27" name="Picture 26" descr="chart_drag_po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3977639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BACKEND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Backend Development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1100" b="0">
                <a:solidFill>
                  <a:srgbClr val="1B2A2E"/>
                </a:solidFill>
              </a:defRPr>
            </a:pPr>
            <a:r>
              <a:t>• High-performance Node.js runtime and modular Express.js REST routing architecture</a:t>
            </a:r>
            <a:endParaRPr lang="en-US" sz="1200" dirty="0"/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Dynamic Aerodynamic Telemetry Engine computing CL, CD, CM, and L/D on-the-fly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Compressibility Corrections implementing Prandtl-Glauert factor 1/sqrt(1 - M^2)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Supercritical Shock-Buffet &amp; Post-Stall Separation modeling past critical angle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Continuous AoA Sweep Generator producing high-density telemetry data arrays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Multi-format CSV Dataset Ingestion with automatic unit normalization and error validation</a:t>
            </a:r>
          </a:p>
          <a:p>
            <a:pPr>
              <a:defRPr sz="1100" b="0">
                <a:solidFill>
                  <a:srgbClr val="1B2A2E"/>
                </a:solidFill>
              </a:defRPr>
            </a:pPr>
            <a:r>
              <a:t>• High-speed in-memory state store delivering sub-millisecond query performance</a:t>
            </a:r>
          </a:p>
        </p:txBody>
      </p:sp>
      <p:sp>
        <p:nvSpPr>
          <p:cNvPr id="7" name="Responsibilities 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028090"/>
                </a:solidFill>
              </a:defRPr>
            </a:pPr>
            <a:r>
              <a:t>Backend Processing Flow</a:t>
            </a:r>
            <a:endParaRPr lang="en-US" sz="1050" dirty="0"/>
          </a:p>
          <a:p>
            <a:pPr>
              <a:defRPr sz="1050" b="0">
                <a:solidFill>
                  <a:srgbClr val="7A8F8C"/>
                </a:solidFill>
              </a:defRPr>
            </a:pPr>
            <a:r>
              <a:t>REST Telemetry Endpoint → Physics Engine (calculateAerodynamics) → Unit Normalization → In-Memory Store → JSON Stream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DATABASE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Database Integration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1150" b="0">
                <a:solidFill>
                  <a:srgbClr val="1B2A2E"/>
                </a:solidFill>
              </a:defRPr>
            </a:pPr>
            <a:r>
              <a:t>• Multi-model aerospace registry storing geometric specifications and aerodynamic polars.</a:t>
            </a:r>
            <a:endParaRPr lang="en-US" sz="1250" dirty="0"/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Multi-regime wind tunnel facility status tracking active RPM, dynamic pressure, and cooling.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In-memory fast-query store containing 156+ recorded test runs for instantaneous retrieval.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13-station normalized chordwise Cp pressure tap profiles (x/c = 0.0 to 1.0) with upper/lower suction loops.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Comprehensive filtering capabilities: filter by aerospace model, flow regime, and stall status.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Extensible architecture ready for MongoDB Atlas cloud persistence and historical data archiving.</a:t>
            </a:r>
          </a:p>
        </p:txBody>
      </p:sp>
      <p:sp>
        <p:nvSpPr>
          <p:cNvPr id="7" name="Sample data card"/>
          <p:cNvSpPr/>
          <p:nvPr/>
        </p:nvSpPr>
        <p:spPr>
          <a:xfrm>
            <a:off x="512064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SAMPLE DATA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sz="1150" b="0">
                <a:solidFill>
                  <a:srgbClr val="1B2A2E"/>
                </a:solidFill>
              </a:defRPr>
            </a:pPr>
            <a:r>
              <a:t>• Models: NACA 0012, SC(2)-0714, 65° Delta Wing</a:t>
            </a:r>
            <a:endParaRPr lang="en-US" sz="1250" dirty="0"/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Facilities: Subsonic, Transonic, Supersonic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Test Runs: 156 Recorded Runs (AoA Sweeps)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Data Points: ~5,000 Calibrated Measurements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Mach Range: Mach 0.05 to 3.80</a:t>
            </a:r>
          </a:p>
          <a:p>
            <a:pPr>
              <a:defRPr sz="1150" b="0">
                <a:solidFill>
                  <a:srgbClr val="1B2A2E"/>
                </a:solidFill>
              </a:defRPr>
            </a:pPr>
            <a:r>
              <a:t>• Reynolds Range: 3.0 × 10⁶ to 12.0 × 10⁶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API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API Development</a:t>
            </a:r>
            <a:endParaRPr lang="en-US" sz="22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/api/health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Check telemetry engine status &amp; facility overview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/api/facilities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Fetch wind tunnel facility specs, RPM &amp; pressures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/api/models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Retrieve aircraft model specs, polars &amp; Cp profiles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/api/runs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Query and filter test runs by model, regime &amp; stall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/api/telemetry/live-point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Dynamic on-the-fly aerodynamic coefficient solver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/api/telemetry/sweep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Generate high-resolution AoA pitch sweep arrays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Flow step"/>
          <p:cNvSpPr/>
          <p:nvPr/>
        </p:nvSpPr>
        <p:spPr>
          <a:xfrm>
            <a:off x="457200" y="406908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069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REST API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883664" y="4069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Flow step"/>
          <p:cNvSpPr/>
          <p:nvPr/>
        </p:nvSpPr>
        <p:spPr>
          <a:xfrm>
            <a:off x="2157984" y="406908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57984" y="4069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Controllers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4069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Flow step"/>
          <p:cNvSpPr/>
          <p:nvPr/>
        </p:nvSpPr>
        <p:spPr>
          <a:xfrm>
            <a:off x="3858768" y="406908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58768" y="4069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Mongoose Models</a:t>
            </a:r>
            <a:endParaRPr lang="en-US" sz="900" dirty="0"/>
          </a:p>
        </p:txBody>
      </p:sp>
      <p:sp>
        <p:nvSpPr>
          <p:cNvPr id="6" name="Text 12"/>
          <p:cNvSpPr txBox="1"/>
          <p:nvPr/>
        </p:nvSpPr>
        <p:spPr>
          <a:xfrm>
            <a:off x="5285232" y="4069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Flow step"/>
          <p:cNvSpPr/>
          <p:nvPr/>
        </p:nvSpPr>
        <p:spPr>
          <a:xfrm>
            <a:off x="5559552" y="406908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59552" y="4069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JSON Response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986016" y="4069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8F8C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Flow step"/>
          <p:cNvSpPr/>
          <p:nvPr/>
        </p:nvSpPr>
        <p:spPr>
          <a:xfrm>
            <a:off x="7260336" y="4069080"/>
            <a:ext cx="1426464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0336" y="4069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Dashboard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STATUS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Module-wise Implementation Status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Frontend UI &amp; Dark HUD</a:t>
            </a:r>
          </a:p>
        </p:txBody>
      </p:sp>
      <p:sp>
        <p:nvSpPr>
          <p:cNvPr id="7" name="Progress track"/>
          <p:cNvSpPr/>
          <p:nvPr/>
        </p:nvSpPr>
        <p:spPr>
          <a:xfrm>
            <a:off x="3474720" y="140817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Progress fill"/>
          <p:cNvSpPr/>
          <p:nvPr/>
        </p:nvSpPr>
        <p:spPr>
          <a:xfrm>
            <a:off x="3474720" y="1408176"/>
            <a:ext cx="3730752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95%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3D Canvas Flow Simulator</a:t>
            </a:r>
          </a:p>
        </p:txBody>
      </p:sp>
      <p:sp>
        <p:nvSpPr>
          <p:cNvPr id="11" name="Progress track"/>
          <p:cNvSpPr/>
          <p:nvPr/>
        </p:nvSpPr>
        <p:spPr>
          <a:xfrm>
            <a:off x="3474720" y="191109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2" name="Progress fill"/>
          <p:cNvSpPr/>
          <p:nvPr/>
        </p:nvSpPr>
        <p:spPr>
          <a:xfrm>
            <a:off x="3474720" y="1911096"/>
            <a:ext cx="3950208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90%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Aerodynamic Analytics &amp; Polars</a:t>
            </a:r>
          </a:p>
        </p:txBody>
      </p:sp>
      <p:sp>
        <p:nvSpPr>
          <p:cNvPr id="15" name="Progress track"/>
          <p:cNvSpPr/>
          <p:nvPr/>
        </p:nvSpPr>
        <p:spPr>
          <a:xfrm>
            <a:off x="3474720" y="241401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6" name="Progress fill"/>
          <p:cNvSpPr/>
          <p:nvPr/>
        </p:nvSpPr>
        <p:spPr>
          <a:xfrm>
            <a:off x="3474720" y="2414016"/>
            <a:ext cx="3511296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95%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45720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Live AoA Sweep &amp; Audio Synth</a:t>
            </a:r>
          </a:p>
        </p:txBody>
      </p:sp>
      <p:sp>
        <p:nvSpPr>
          <p:cNvPr id="19" name="Progress track"/>
          <p:cNvSpPr/>
          <p:nvPr/>
        </p:nvSpPr>
        <p:spPr>
          <a:xfrm>
            <a:off x="3474720" y="291693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Progress fill"/>
          <p:cNvSpPr/>
          <p:nvPr/>
        </p:nvSpPr>
        <p:spPr>
          <a:xfrm>
            <a:off x="3474720" y="2916936"/>
            <a:ext cx="3511296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90%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45720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Backend Telemetry REST APIs</a:t>
            </a:r>
          </a:p>
        </p:txBody>
      </p:sp>
      <p:sp>
        <p:nvSpPr>
          <p:cNvPr id="23" name="Progress track"/>
          <p:cNvSpPr/>
          <p:nvPr/>
        </p:nvSpPr>
        <p:spPr>
          <a:xfrm>
            <a:off x="3474720" y="341985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4" name="Progress fill"/>
          <p:cNvSpPr/>
          <p:nvPr/>
        </p:nvSpPr>
        <p:spPr>
          <a:xfrm>
            <a:off x="3474720" y="3419856"/>
            <a:ext cx="3072384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3383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90%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4572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Dataset Ingestion &amp; Export</a:t>
            </a:r>
          </a:p>
        </p:txBody>
      </p:sp>
      <p:sp>
        <p:nvSpPr>
          <p:cNvPr id="27" name="Progress track"/>
          <p:cNvSpPr/>
          <p:nvPr/>
        </p:nvSpPr>
        <p:spPr>
          <a:xfrm>
            <a:off x="3474720" y="3922776"/>
            <a:ext cx="4389120" cy="201168"/>
          </a:xfrm>
          <a:prstGeom prst="roundRect">
            <a:avLst>
              <a:gd name="adj" fmla="val 45455"/>
            </a:avLst>
          </a:prstGeom>
          <a:solidFill>
            <a:srgbClr val="D7E7E5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8" name="Progress fill"/>
          <p:cNvSpPr/>
          <p:nvPr/>
        </p:nvSpPr>
        <p:spPr>
          <a:xfrm>
            <a:off x="3474720" y="3922776"/>
            <a:ext cx="2633472" cy="201168"/>
          </a:xfrm>
          <a:prstGeom prst="roundRect">
            <a:avLst>
              <a:gd name="adj" fmla="val 454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3886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85%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Screenshots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6" name="Picture 25" descr="ui_dashboar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77639" cy="1600200"/>
          </a:xfrm>
          <a:prstGeom prst="rect">
            <a:avLst/>
          </a:prstGeom>
        </p:spPr>
      </p:pic>
      <p:pic>
        <p:nvPicPr>
          <p:cNvPr id="27" name="Picture 26" descr="ui_windtunnel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3977639" cy="1600200"/>
          </a:xfrm>
          <a:prstGeom prst="rect">
            <a:avLst/>
          </a:prstGeom>
        </p:spPr>
      </p:pic>
      <p:pic>
        <p:nvPicPr>
          <p:cNvPr id="28" name="Picture 27" descr="ui_analytics_su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71800"/>
            <a:ext cx="3977639" cy="1600200"/>
          </a:xfrm>
          <a:prstGeom prst="rect">
            <a:avLst/>
          </a:prstGeom>
        </p:spPr>
      </p:pic>
      <p:pic>
        <p:nvPicPr>
          <p:cNvPr id="29" name="Picture 28" descr="ui_dataset_p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971800"/>
            <a:ext cx="3977639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CHALLENGES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Challenges Faced &amp; Solutions</a:t>
            </a:r>
            <a:endParaRPr lang="en-US" sz="22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9718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Solution Adopted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Real-Time Flow Simulation &amp; Boundary Layer Separation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Implemented an HTML5 Canvas particle vector field with Reynolds-dependent velocity damping and turbulent wake vortex shedding.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Multi-Regime Aerodynamic Coefficient Computation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Formulated unified solvers integrating Prandtl-Glauert compressibility corrections, supercritical shock-buffet limits, and vortex lift.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High-Frequency AoA Sweep Telemetry Streaming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Decoupled animation frame loops from React state and optimized batch updates to maintain fluid 60 FPS performance.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Cp Chordwise Pressure Distribution Integration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</a:defRPr>
                      </a:pPr>
                      <a:r>
                        <a:t>Developed dual-contour upper/lower suction loop rendering with inverted aerodynamic y-axis orientation and net lift integration.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Remaining Work &amp; Plan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00"/>
              </a:spcAft>
              <a:buSzPct val="100000"/>
              <a:defRPr sz="1200" b="0">
                <a:solidFill>
                  <a:srgbClr val="1B2A2E"/>
                </a:solidFill>
              </a:defRPr>
            </a:pPr>
            <a:r>
              <a:rPr dirty="0"/>
              <a:t>• Cloud Telemetry Persistence: Deploy MongoDB Atlas cluster with time-series collections for historical wind tunnel runs.</a:t>
            </a:r>
            <a:endParaRPr lang="en-US" sz="1600" dirty="0"/>
          </a:p>
          <a:p>
            <a:pPr>
              <a:defRPr sz="1200" b="0">
                <a:solidFill>
                  <a:srgbClr val="1B2A2E"/>
                </a:solidFill>
              </a:defRPr>
            </a:pPr>
            <a:r>
              <a:rPr dirty="0"/>
              <a:t>• 3D Surface Pressure Contour Heatmaps: Implement WebGL / Three.js 3D isobar pressure mapping across airfoil wings.</a:t>
            </a:r>
          </a:p>
          <a:p>
            <a:pPr>
              <a:defRPr sz="1200" b="0">
                <a:solidFill>
                  <a:srgbClr val="1B2A2E"/>
                </a:solidFill>
              </a:defRPr>
            </a:pPr>
            <a:r>
              <a:rPr dirty="0"/>
              <a:t>• Hardware DAQ Sensor Integration: Connect Arduino/ESP32 pitot-static pressure tubes and multi-axis load cell strain gauges.</a:t>
            </a:r>
          </a:p>
          <a:p>
            <a:pPr>
              <a:defRPr sz="1200" b="0">
                <a:solidFill>
                  <a:srgbClr val="1B2A2E"/>
                </a:solidFill>
              </a:defRPr>
            </a:pPr>
            <a:r>
              <a:rPr dirty="0"/>
              <a:t>• Automated PDF Certification Export: Generate downloadable aerodynamic calibration test certificates and summary sheets.</a:t>
            </a:r>
          </a:p>
          <a:p>
            <a:pPr>
              <a:defRPr sz="1200" b="0">
                <a:solidFill>
                  <a:srgbClr val="1B2A2E"/>
                </a:solidFill>
              </a:defRPr>
            </a:pPr>
            <a:r>
              <a:rPr dirty="0"/>
              <a:t>• </a:t>
            </a:r>
            <a:r>
              <a:rPr dirty="0" err="1"/>
              <a:t>OpenFOAM</a:t>
            </a:r>
            <a:r>
              <a:rPr dirty="0"/>
              <a:t> / SU2 CFD Importer: Direct ingestion of CFD mesh solutions and experimental wind tunnel data comparison.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circle"/>
          <p:cNvSpPr/>
          <p:nvPr/>
        </p:nvSpPr>
        <p:spPr>
          <a:xfrm>
            <a:off x="457200" y="274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ag number"/>
          <p:cNvSpPr txBox="1"/>
          <p:nvPr/>
        </p:nvSpPr>
        <p:spPr>
          <a:xfrm>
            <a:off x="457200" y="274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4" name="Tag label"/>
          <p:cNvSpPr txBox="1"/>
          <p:nvPr/>
        </p:nvSpPr>
        <p:spPr>
          <a:xfrm>
            <a:off x="8229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A896"/>
                </a:solidFill>
              </a:rPr>
              <a:t>REFERENCES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2E"/>
                </a:solidFill>
              </a:rPr>
              <a:t>References</a:t>
            </a:r>
            <a:endParaRPr lang="en-US" sz="22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743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Barlow, J. B., Rae, W. H., &amp; Pope, A., Low-Speed Wind Tunnel Testing, 3rd Ed., John Wiley &amp; Sons.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Anderson, J. D., Fundamentals of Aerodynamics, 6th Ed., McGraw-Hill Education.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Abbott, I. H., &amp; Von Doenhoff, A. E., Theory of Wing Sections, Dover Publications.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A2E"/>
                          </a:solidFill>
                        </a:defRPr>
                      </a:pPr>
                      <a:r>
                        <a:t>React 18, Vite 6, Chart.js, Tailwind CSS, Express.js &amp; Web Audio API Official Documentation.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7316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F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Teal">
  <a:themeElements>
    <a:clrScheme name="AeroTeal">
      <a:dk1>
        <a:srgbClr val="1B2A2E"/>
      </a:dk1>
      <a:lt1>
        <a:srgbClr val="FFFFFF"/>
      </a:lt1>
      <a:dk2>
        <a:srgbClr val="028090"/>
      </a:dk2>
      <a:lt2>
        <a:srgbClr val="F4FAF9"/>
      </a:lt2>
      <a:accent1>
        <a:srgbClr val="00A896"/>
      </a:accent1>
      <a:accent2>
        <a:srgbClr val="028090"/>
      </a:accent2>
      <a:accent3>
        <a:srgbClr val="3E5C58"/>
      </a:accent3>
      <a:accent4>
        <a:srgbClr val="7A8F8C"/>
      </a:accent4>
      <a:accent5>
        <a:srgbClr val="D7E7E5"/>
      </a:accent5>
      <a:accent6>
        <a:srgbClr val="E07A5F"/>
      </a:accent6>
      <a:hlink>
        <a:srgbClr val="028090"/>
      </a:hlink>
      <a:folHlink>
        <a:srgbClr val="3E5C58"/>
      </a:folHlink>
    </a:clrScheme>
    <a:fontScheme name="Aero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1877</Words>
  <Application>Microsoft Office PowerPoint</Application>
  <PresentationFormat>On-screen Show (16:9)</PresentationFormat>
  <Paragraphs>361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AeroTeal</vt:lpstr>
      <vt:lpstr>PowerPoint Presentation</vt:lpstr>
      <vt:lpstr>Scope of This Review</vt:lpstr>
      <vt:lpstr>Functional &amp; Non-Functional Requirements</vt:lpstr>
      <vt:lpstr>System Architecture (Detailed)</vt:lpstr>
      <vt:lpstr>Use Case Diagram</vt:lpstr>
      <vt:lpstr>ER Diagram / Database Design</vt:lpstr>
      <vt:lpstr>Module Description</vt:lpstr>
      <vt:lpstr>Technology Stack</vt:lpstr>
      <vt:lpstr>UI Design / Wireframes</vt:lpstr>
      <vt:lpstr>Frontend Development</vt:lpstr>
      <vt:lpstr>Data Visualization (Sample Output)</vt:lpstr>
      <vt:lpstr>Backend Development</vt:lpstr>
      <vt:lpstr>Database Integration</vt:lpstr>
      <vt:lpstr>API Development</vt:lpstr>
      <vt:lpstr>Module-wise Implementation Status</vt:lpstr>
      <vt:lpstr>Screenshots</vt:lpstr>
      <vt:lpstr>Challenges Faced &amp; Solutions</vt:lpstr>
      <vt:lpstr>Remaining Work &amp; Plan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 Tunnel Data Storage &amp; Visualization</dc:title>
  <dc:subject>PptxGenJS Presentation</dc:subject>
  <dc:creator>PptxGenJS</dc:creator>
  <cp:lastModifiedBy>Navin Raj</cp:lastModifiedBy>
  <cp:revision>4</cp:revision>
  <dcterms:created xsi:type="dcterms:W3CDTF">2026-10-10T00:20:34Z</dcterms:created>
  <dcterms:modified xsi:type="dcterms:W3CDTF">2026-10-10T04:26:49Z</dcterms:modified>
</cp:coreProperties>
</file>